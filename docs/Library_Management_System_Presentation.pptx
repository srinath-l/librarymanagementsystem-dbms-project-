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52c705cc0842a2" /><Relationship Type="http://schemas.openxmlformats.org/officeDocument/2006/relationships/extended-properties" Target="/docProps/app.xml" Id="R7a4a1f44e7c14d13" /><Relationship Type="http://schemas.openxmlformats.org/officeDocument/2006/relationships/officeDocument" Target="/ppt/presentation.xml" Id="R879008e19eb9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9d36af0dfd40c4"/>
  </p:sldMasterIdLst>
  <p:notesMasterIdLst>
    <p:notesMasterId xmlns:r="http://schemas.openxmlformats.org/officeDocument/2006/relationships" r:id="Rc2c3192a163c485d"/>
  </p:notesMasterIdLst>
  <p:sldIdLst>
    <p:sldId xmlns:r="http://schemas.openxmlformats.org/officeDocument/2006/relationships" id="256" r:id="Rf75a96deef854f7e"/>
    <p:sldId xmlns:r="http://schemas.openxmlformats.org/officeDocument/2006/relationships" id="257" r:id="R6a8d4bbe7b494c5d"/>
    <p:sldId xmlns:r="http://schemas.openxmlformats.org/officeDocument/2006/relationships" id="258" r:id="Ra78abb3d258f42a8"/>
    <p:sldId xmlns:r="http://schemas.openxmlformats.org/officeDocument/2006/relationships" id="259" r:id="Rc8c843c437ac446a"/>
    <p:sldId xmlns:r="http://schemas.openxmlformats.org/officeDocument/2006/relationships" id="260" r:id="Rfe93d9f4592b4a12"/>
    <p:sldId xmlns:r="http://schemas.openxmlformats.org/officeDocument/2006/relationships" id="261" r:id="Rc59a43344d2f4232"/>
    <p:sldId xmlns:r="http://schemas.openxmlformats.org/officeDocument/2006/relationships" id="262" r:id="R75630c8d21d245cb"/>
    <p:sldId xmlns:r="http://schemas.openxmlformats.org/officeDocument/2006/relationships" id="263" r:id="Rec6df4e8b5884b74"/>
    <p:sldId xmlns:r="http://schemas.openxmlformats.org/officeDocument/2006/relationships" id="264" r:id="R93ddce522214402b"/>
    <p:sldId xmlns:r="http://schemas.openxmlformats.org/officeDocument/2006/relationships" id="265" r:id="Rfae7396fc98c46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aa26b1fde4fd8" /><Relationship Type="http://schemas.openxmlformats.org/officeDocument/2006/relationships/slideMaster" Target="/ppt/slideMasters/slideMaster1.xml" Id="R139d36af0dfd40c4" /><Relationship Type="http://schemas.openxmlformats.org/officeDocument/2006/relationships/notesMaster" Target="/ppt/notesMasters/notesMaster1.xml" Id="Rc2c3192a163c485d" /><Relationship Type="http://schemas.openxmlformats.org/officeDocument/2006/relationships/presProps" Target="/ppt/presProps.xml" Id="Ra5ec9de5ea164ee6" /><Relationship Type="http://schemas.openxmlformats.org/officeDocument/2006/relationships/tableStyles" Target="/ppt/tableStyles.xml" Id="R1791b31624d140be" /><Relationship Type="http://schemas.openxmlformats.org/officeDocument/2006/relationships/slide" Target="/ppt/slides/slide1.xml" Id="Rf75a96deef854f7e" /><Relationship Type="http://schemas.openxmlformats.org/officeDocument/2006/relationships/slide" Target="/ppt/slides/slide2.xml" Id="R6a8d4bbe7b494c5d" /><Relationship Type="http://schemas.openxmlformats.org/officeDocument/2006/relationships/slide" Target="/ppt/slides/slide3.xml" Id="Ra78abb3d258f42a8" /><Relationship Type="http://schemas.openxmlformats.org/officeDocument/2006/relationships/slide" Target="/ppt/slides/slide4.xml" Id="Rc8c843c437ac446a" /><Relationship Type="http://schemas.openxmlformats.org/officeDocument/2006/relationships/slide" Target="/ppt/slides/slide5.xml" Id="Rfe93d9f4592b4a12" /><Relationship Type="http://schemas.openxmlformats.org/officeDocument/2006/relationships/slide" Target="/ppt/slides/slide6.xml" Id="Rc59a43344d2f4232" /><Relationship Type="http://schemas.openxmlformats.org/officeDocument/2006/relationships/slide" Target="/ppt/slides/slide7.xml" Id="R75630c8d21d245cb" /><Relationship Type="http://schemas.openxmlformats.org/officeDocument/2006/relationships/slide" Target="/ppt/slides/slide8.xml" Id="Rec6df4e8b5884b74" /><Relationship Type="http://schemas.openxmlformats.org/officeDocument/2006/relationships/slide" Target="/ppt/slides/slide9.xml" Id="R93ddce522214402b" /><Relationship Type="http://schemas.openxmlformats.org/officeDocument/2006/relationships/slide" Target="/ppt/slides/slide10.xml" Id="Rfae7396fc98c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7f8cc30054d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cc32615764ce2" /><Relationship Type="http://schemas.openxmlformats.org/officeDocument/2006/relationships/notesMaster" Target="/ppt/notesMasters/notesMaster1.xml" Id="R58a67f9edf5f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ab7731f9d413c" /><Relationship Type="http://schemas.openxmlformats.org/officeDocument/2006/relationships/notesMaster" Target="/ppt/notesMasters/notesMaster1.xml" Id="R8b25f9d3b5e04b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04c68ea8934d0c" /><Relationship Type="http://schemas.openxmlformats.org/officeDocument/2006/relationships/notesMaster" Target="/ppt/notesMasters/notesMaster1.xml" Id="Rdfdf057af332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43e3727de4f35" /><Relationship Type="http://schemas.openxmlformats.org/officeDocument/2006/relationships/notesMaster" Target="/ppt/notesMasters/notesMaster1.xml" Id="R8b40e9ae14dc4b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9d64c3533f465b" /><Relationship Type="http://schemas.openxmlformats.org/officeDocument/2006/relationships/notesMaster" Target="/ppt/notesMasters/notesMaster1.xml" Id="R3ad274ca5c48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a7bde284b43c2" /><Relationship Type="http://schemas.openxmlformats.org/officeDocument/2006/relationships/notesMaster" Target="/ppt/notesMasters/notesMaster1.xml" Id="Rfc6846472b34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2a0048b272424a" /><Relationship Type="http://schemas.openxmlformats.org/officeDocument/2006/relationships/notesMaster" Target="/ppt/notesMasters/notesMaster1.xml" Id="Rce08796ff09344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9a83d8f5504c4e" /><Relationship Type="http://schemas.openxmlformats.org/officeDocument/2006/relationships/notesMaster" Target="/ppt/notesMasters/notesMaster1.xml" Id="Rb72877e6580046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b4afe5f494d5d" /><Relationship Type="http://schemas.openxmlformats.org/officeDocument/2006/relationships/notesMaster" Target="/ppt/notesMasters/notesMaster1.xml" Id="R1f2142188dac4e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8785e19b5a49a6" /><Relationship Type="http://schemas.openxmlformats.org/officeDocument/2006/relationships/notesMaster" Target="/ppt/notesMasters/notesMaster1.xml" Id="R3c7573ee01b347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based on the supplied BCSE302P rubric and the completed source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 problem statement and requirement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single application process reduces setup risk during the classroom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QA verified these exact collection counts on a MongoDB replica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features are available from the interface and protected REST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Integration testing verified the issue and return transaction on an in-memory replica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reports exceed the rubric requirement of five aggregation queries.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Checks were run in the project workspace before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docs/DEMO_SCRIPT.md for the detailed speaking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demonstration and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0cc99f4fd43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d30467f104e84" /><Relationship Type="http://schemas.openxmlformats.org/officeDocument/2006/relationships/slideLayout" Target="/ppt/slideLayouts/slideLayout1.xml" Id="Rd2df37939e4e45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f37939e4e45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367c0be74280" /><Relationship Type="http://schemas.openxmlformats.org/officeDocument/2006/relationships/notesSlide" Target="/ppt/notesSlides/notesSlide1.xml" Id="Rbba13227a52a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9ed2526204363" /><Relationship Type="http://schemas.openxmlformats.org/officeDocument/2006/relationships/notesSlide" Target="/ppt/notesSlides/notesSlide2.xml" Id="R49aedb15b09246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c9abfa9e4477f" /><Relationship Type="http://schemas.openxmlformats.org/officeDocument/2006/relationships/notesSlide" Target="/ppt/notesSlides/notesSlide3.xml" Id="Ra07e2fa64ae7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e07294fe045ed" /><Relationship Type="http://schemas.openxmlformats.org/officeDocument/2006/relationships/chart" Target="/ppt/slides/charts/chart1.xml" Id="R72365bad48e24d89" /><Relationship Type="http://schemas.openxmlformats.org/officeDocument/2006/relationships/notesSlide" Target="/ppt/notesSlides/notesSlide4.xml" Id="R2a6b13430c29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b66e7eefc4655" /><Relationship Type="http://schemas.openxmlformats.org/officeDocument/2006/relationships/notesSlide" Target="/ppt/notesSlides/notesSlide5.xml" Id="R3e01dc33c06b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814f759534be9" /><Relationship Type="http://schemas.openxmlformats.org/officeDocument/2006/relationships/notesSlide" Target="/ppt/notesSlides/notesSlide6.xml" Id="Rfb21a847aac347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4e0e1caf946fd" /><Relationship Type="http://schemas.openxmlformats.org/officeDocument/2006/relationships/notesSlide" Target="/ppt/notesSlides/notesSlide7.xml" Id="R1ec43a8ad4e141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7e8dac2e84799" /><Relationship Type="http://schemas.openxmlformats.org/officeDocument/2006/relationships/chart" Target="/ppt/slides/charts/chart2.xml" Id="R398803484cda4516" /><Relationship Type="http://schemas.openxmlformats.org/officeDocument/2006/relationships/notesSlide" Target="/ppt/notesSlides/notesSlide8.xml" Id="R07c0a2c1fffa4b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9e03d75dc42c9" /><Relationship Type="http://schemas.openxmlformats.org/officeDocument/2006/relationships/notesSlide" Target="/ppt/notesSlides/notesSlide9.xml" Id="R4be148d851d549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565b1003440ec" /><Relationship Type="http://schemas.openxmlformats.org/officeDocument/2006/relationships/notesSlide" Target="/ppt/notesSlides/notesSlide10.xml" Id="Rfd5ee20ecf7f4d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Documents</c:v>
          </c:tx>
          <c:spPr>
            <a:solidFill xmlns:a="http://schemas.openxmlformats.org/drawingml/2006/main">
              <a:srgbClr val="2E765B"/>
            </a:solidFill>
          </c:spPr>
          <c:cat>
            <c:strRef>
              <c:f>'Chart Data'!$A$2:$A$7</c:f>
              <c:strCache>
                <c:ptCount val="6"/>
                <c:pt idx="0">
                  <c:v>Authors</c:v>
                </c:pt>
                <c:pt idx="1">
                  <c:v>Books</c:v>
                </c:pt>
                <c:pt idx="2">
                  <c:v>Members</c:v>
                </c:pt>
                <c:pt idx="3">
                  <c:v>Loans</c:v>
                </c:pt>
                <c:pt idx="4">
                  <c:v>Reservations</c:v>
                </c:pt>
                <c:pt idx="5">
                  <c:v>Users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20</c:v>
                </c:pt>
                <c:pt idx="1">
                  <c:v>40</c:v>
                </c:pt>
                <c:pt idx="2">
                  <c:v>30</c:v>
                </c:pt>
                <c:pt idx="3">
                  <c:v>30</c:v>
                </c:pt>
                <c:pt idx="4">
                  <c:v>15</c:v>
                </c:pt>
                <c:pt idx="5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Passed checks</c:v>
          </c:tx>
          <c:spPr>
            <a:solidFill xmlns:a="http://schemas.openxmlformats.org/drawingml/2006/main">
              <a:srgbClr val="2E765B"/>
            </a:solidFill>
          </c:spPr>
          <c:cat>
            <c:strRef>
              <c:f>'Chart Data'!$A$2:$A$6</c:f>
              <c:strCache>
                <c:ptCount val="5"/>
                <c:pt idx="0">
                  <c:v>Unit</c:v>
                </c:pt>
                <c:pt idx="1">
                  <c:v>Integration</c:v>
                </c:pt>
                <c:pt idx="2">
                  <c:v>Seed</c:v>
                </c:pt>
                <c:pt idx="3">
                  <c:v>Desktop</c:v>
                </c:pt>
                <c:pt idx="4">
                  <c:v>Mobile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4BC13-C4BB-418C-8DA0-86D3A71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D140D-3129-4860-9D0D-202FA62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68DFE-78CD-4C3C-9D6D-766291D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E5DD"/>
                </a:solidFill>
                <a:latin typeface="Arial"/>
                <a:ea typeface="Arial"/>
                <a:cs typeface="Arial"/>
              </a:rPr>
              <a:t>MongoDB database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02B6A-E0AB-461E-8A46-37FB3F6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4038F-62B6-4284-8117-98C7C483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 Srinath (24BDS0265)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Sugash K (24BCE2565)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D4AA3-134D-4FEA-A92D-1A9EE19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D3C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3D3CB"/>
                </a:solidFill>
                <a:latin typeface="Arial"/>
                <a:ea typeface="Arial"/>
                <a:cs typeface="Arial"/>
              </a:rPr>
              <a:t>BCSE302P - Database Systems Lab</a:t>
            </a:r>
          </a:p>
        </p:txBody>
      </p:sp>
    </p:spTree>
    <p:extLst>
      <p:ext uri="{BB962C8B-B14F-4D97-AF65-F5344CB8AC3E}">
        <p14:creationId xmlns:p14="http://schemas.microsoft.com/office/powerpoint/2010/main" val="426336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15E85-D26B-4B8A-A072-B129FFB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A0BB-37CF-408B-8D5B-73EAC6D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Problem and project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78478-D8F1-4FBB-9E16-3F01C987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D2A1D-9FBC-47CA-AEA5-483032B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E18F4-D4FA-44DB-AC03-0336A09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9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Manual records make availability, overdue loans and reservation priority difficult to track.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7D4A-DE41-4E71-8838-C9898916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The application gives library staff one place to manage the catalog, members, circulation and operational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28AA-CCA1-4874-A90E-F050CE1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6A198-3A88-4593-BDC5-7C52FA2B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Books, authors, copies and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56E24-49F2-4844-B0E9-F63D054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3DE1F-447A-43B0-AC64-F428D4C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Circulation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10B73-977A-4710-9E1C-143FEED7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Issue, return, due dates and fines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D1FC-7084-4F5E-A3DB-8D85B05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E9F21-24CD-47F9-8173-B8671C2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933FA-76C7-41A6-A736-C5D6803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Ordered holds for unavailable books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63DF4-606B-41B1-9B81-24A2F9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82965-6062-4F0D-8D53-F0D4D56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34291-8BB1-4238-A53E-E652C94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25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Authentication, validation and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C10D6-32D1-404C-9FB8-6356C2C9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3093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66A2B-81F0-4B0B-BED9-081A13C2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A3A2-764F-4B7B-8825-33C23F3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E1132-1279-4653-974C-DD54102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B95A1-227A-4E20-8D22-044FA575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007DD-0ADB-4E49-B203-37B27C5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1CA8-6C87-42DC-9383-43FB34B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Staff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7CAF5-C34B-4B09-9801-FFDD785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Responsive HTML, CSS and 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68B7C-4ACD-48EB-8276-3CB7D90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52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49DE0-ABBD-4825-9880-A64A67CC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C3AFA-570A-4DE9-AFAD-66ECEE8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36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2DCBB-522C-48F2-AC89-36A0A33A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Authentication, validation and business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4A9CD-2A90-4A6C-A9BD-8F911E0F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194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32F08-DBCE-486D-8245-F405D7EB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52DC2-4637-4AD5-B4FF-4421A971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Mongoose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51967-942B-4F4D-901B-11EC44C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004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Schemas, indexes and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2D7A0-B799-467D-9191-E46956DC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55704-0B5B-40E6-8AC9-79723F6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F3B"/>
          </a:solidFill>
          <a:ln xmlns:a="http://schemas.openxmlformats.org/drawingml/2006/main" w="9525">
            <a:solidFill>
              <a:srgbClr val="164F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E7BCE-F0F2-43AB-B873-72881F39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replica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12A14-5B47-470C-9BDE-113D259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672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Documents, aggregations and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00156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1C933-0986-4F0B-9C33-5A357B00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14497-E760-46A8-8F80-DDA67653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Seed dataset contains 137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7F46C-3CAD-4CC7-B58D-050F064A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35028-8266-48E1-898F-7A6C678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04875" y="16192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365bad48e24d8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1FD17-5FA5-4154-A0AE-4CE617F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A3463-1130-4DBC-A701-C5BA264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86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collections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9DA6-95EB-4279-BB63-7E357CF8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137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8597A-5B4B-4D69-A02E-D5B868BF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1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verified records</a:t>
            </a:r>
          </a:p>
        </p:txBody>
      </p:sp>
    </p:spTree>
    <p:extLst>
      <p:ext uri="{BB962C8B-B14F-4D97-AF65-F5344CB8AC3E}">
        <p14:creationId xmlns:p14="http://schemas.microsoft.com/office/powerpoint/2010/main" val="1929283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0A5C7-8653-4A2D-946A-E087F49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C4533-C43B-4B60-952A-4782321C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Implemented functionality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ADC1D-288D-4AE9-862C-9C6E33A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427C-750C-4181-9C85-F05C662A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C3EC5-8A3F-47F6-A431-79EA4EC9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65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7F8FE-22E2-4AC2-9253-193EF30A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2ABE-0A4F-4299-A93B-5A6E1B4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Create, search, edit, stock and controlled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551B-A576-4B07-A696-9981FD6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05C0F-4746-4F8C-A0DA-9D64793B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6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80A39-3C4F-42E4-97B4-B4982DF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D9115-5CF7-42F5-92EC-900F2627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Register, search, edit and status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E5C18-EB97-41AD-B68B-C654D2C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40961-A55D-4919-B097-916B451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6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1339F-F545-4192-8B2B-34E3009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Circulation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E7855-8B50-403A-A016-884419CB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Atomic issue and return with fine calculation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7907B-2CBF-4EDB-A94B-408BAA1E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E1B4C-BEC9-4C02-A85B-10CD167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6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DBF09-B0EA-4063-9D71-3F72B307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Reservations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28628-4FC2-4FFF-98B6-ED32063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Availability rule and ordered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F14B0-E2DF-40F6-A277-FD5243C2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41CF7-FDEB-4D79-A74C-7D3D3F22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65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A306D-8ACF-4E17-9DE3-F1CC0109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3F2CF-DB5D-404D-832E-B25F3E1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Six live aggregation results and CSV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6E960-D393-4299-B2D3-093857C1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BAAAE-8D86-4C5B-9ED2-8D29ED5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014AE-60B7-403E-86BE-543E8F2F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C62E5A-200D-43AC-A90B-8704B9D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bcrypt, JWT cookies and staff roles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842AC-FB57-443A-AA46-D2161A36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80757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8AD9F-4517-4507-8619-2EDC8A9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04D51-4DF5-4EDA-A302-833B035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Atomic return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0EA7B-5408-43A6-ACFE-EDDBE78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A2D49-07B5-4888-8DF5-F4CF181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78CCB-B985-42E7-9F60-FA4DE6EC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One return changes three collections. MongoDB commits every change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45DA-C560-4B0A-970E-1A10D21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749A7-B0CD-4829-A999-F89AD942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4EA2F-8615-4E7B-9722-03D1823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Read active loan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7A8EB-CE41-4D48-AE7D-BA0028D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813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A966C-1029-4AB2-91E1-06E35A7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F4D41-2938-45AF-A629-682F4D11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80895-414E-43C3-834E-78D618A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Calculate 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BD3F0-8DB7-4678-9604-1991795E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813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4DB92-3E34-478E-A54B-05D32B1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AF93C-0D2E-481A-8214-5E4A7C3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7B690-4B74-4353-9AC9-EAB5CC3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Mark Returned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F408B-BC6F-4944-B0F2-A5FBE926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813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6D507-F22A-4F31-A5B9-4B2BDD20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1A665-81C5-4A55-961E-50BA78ED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BC9E5-D3B8-4F92-A490-7C940AA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Restore stock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CA0A6-92BF-4A7A-B440-59D6EEE7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813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AB833-EEE1-4EE8-998F-AD767CF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C9D4D-D0C0-457E-85CA-1DCC7D69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70E7D-F752-4F74-B39B-CC8E774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Advance 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B505F-C8C6-4385-AD3C-44EE1A1D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813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F6995-D416-42D8-9B8D-116D9FC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62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F3B"/>
          </a:solidFill>
          <a:ln xmlns:a="http://schemas.openxmlformats.org/drawingml/2006/main" w="9525">
            <a:solidFill>
              <a:srgbClr val="164F3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B5C97-75A3-405F-B99B-DBFB64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76550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0D9DF8-8309-4A49-883C-B0C742B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1AD59-6C9F-4C74-9226-30FD2DB6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If any update fails, the transaction rolls back the loan, stock and reservation changes.</a:t>
            </a:r>
          </a:p>
        </p:txBody>
      </p:sp>
    </p:spTree>
    <p:extLst>
      <p:ext uri="{BB962C8B-B14F-4D97-AF65-F5344CB8AC3E}">
        <p14:creationId xmlns:p14="http://schemas.microsoft.com/office/powerpoint/2010/main" val="1626406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B487E-46C6-4B62-A012-8C150D7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278CD-ABD2-40F6-8578-80E7271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MongoDB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1F774-891E-4A09-8944-C6CA343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C0BCD-F943-4ABC-AB8A-1F8EFAAA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1ECE0-7465-43A5-8DD7-8366A7E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EC432-F684-4AC2-BB71-CD7E5D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$group and computed issued copies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791D3-D971-4CC3-AFDB-717C464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08C0-5313-4D3F-97E8-653957C3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71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Popularity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1D0CB-5CFA-45EA-B601-04F8A415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716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$group, $sort and $lookup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F2290-7600-4338-8688-F5A0864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DC646-F876-4EAB-8429-7D9E047B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Overdue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5B2-CF4F-42D7-BF64-0BCF80E4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$dateDiff and calculated 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CFD32-A92D-4F1B-BEA6-10ED44E5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2F2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D0019-4458-4005-84CF-8DD82B7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Member activity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1EE07-8BB5-4DC7-BD1B-C0FFC89B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$cond and grouped totals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45503-EE31-4859-ACAD-610AE24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C5C80-8CB9-45E3-9468-9BE28F9B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Monthly circulation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07B3D-72C9-4364-98AA-6076C0B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$dateToString and $group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3A205-80A7-4BB8-BF83-F81EAEC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D238C-2555-4C58-80CE-1E6C8398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33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Reservation queues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47FB6-C946-4455-A049-DCF93C9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339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$first and ordered grouping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41E7E-868B-47E4-BA04-B07BC5D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816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4061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EF9F0-FE96-43E4-A044-DB3CD086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E612D-B16A-499A-9809-D949603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Verification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CFF6-63D7-4E0E-8644-B8B1D76E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9062-DF79-436A-992D-2371E59D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47750" y="16192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8803484cda45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F0219-7881-4A45-A7A0-D5399EC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478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No browser</a:t>
            </a:r>
          </a:p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console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A597A-97C3-4220-A627-FD05E890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29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Transactions</a:t>
            </a:r>
          </a:p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committed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C1F5B-90DC-44DF-8F14-91BE823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0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137 records</a:t>
            </a:r>
          </a:p>
          <a:p xmlns:a="http://schemas.openxmlformats.org/drawingml/2006/main">
            <a:pPr algn="ctr">
              <a:defRPr sz="21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</p:spTree>
    <p:extLst>
      <p:ext uri="{BB962C8B-B14F-4D97-AF65-F5344CB8AC3E}">
        <p14:creationId xmlns:p14="http://schemas.microsoft.com/office/powerpoint/2010/main" val="133830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CF0A1-20A1-4F7C-B608-12B4351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4F32-650E-4767-9F37-D23B9B9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Final demonstration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81E86-2173-4BC5-9FD2-0672034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C29E8-FBD0-491D-8CFD-C501FF6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7D3AE-CBC1-4E5D-9724-76E9CC7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0C869-228A-405B-8EAC-765A099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Collections and indexes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6171D-2C79-4A49-8364-42891A3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CEF23-EED7-4964-85AB-BD8AC4A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177C3-37FE-4C82-8412-6330C4D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97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68FC5-1045-4D58-8351-8F89B226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663CD-7D9D-4214-BDB8-8D4D7BC2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1:40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CAFAB-8787-4890-AA6C-C7DEFDB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384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Book and member CRUD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93166-A0D1-4ECF-9AF0-849A57E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6B7EC-7596-48E1-85D3-1F51A68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3:00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05D9B-AED7-4584-86D5-5B51673A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670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Issue and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CD72C-8C96-4614-A2F9-B7C274C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A6358-0E11-4404-806D-06912B0A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4:30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E60A6-E464-4425-9282-DF2E0CD2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957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Reservation 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CF95B-3886-4417-AF1E-F8829C00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20E0F-4B11-4A0F-8624-9B3555C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5:20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B65B0-9185-44E9-A50C-7BFF117D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Six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A51B1-4C96-4F35-B486-CD894C04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9FFD5-9E38-4EEB-A13D-20521A9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6:30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2E15D-6798-491F-BC28-D9E9996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530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Responsive interface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B2E89-A7C2-4231-9809-52D1DA1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35DB6-2270-46CD-BB95-EBC74E9C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1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7 minutes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2D4B8-E584-426C-AAB0-2C4EE26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complete flow</a:t>
            </a:r>
          </a:p>
        </p:txBody>
      </p:sp>
    </p:spTree>
    <p:extLst>
      <p:ext uri="{BB962C8B-B14F-4D97-AF65-F5344CB8AC3E}">
        <p14:creationId xmlns:p14="http://schemas.microsoft.com/office/powerpoint/2010/main" val="593066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CE837-60CA-489F-BBBC-9B4BD16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53692-C449-4B50-AADF-27FC7B3B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1C"/>
                </a:solidFill>
                <a:latin typeface="Arial"/>
                <a:ea typeface="Arial"/>
                <a:cs typeface="Arial"/>
              </a:rPr>
              <a:t>Rubric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6F1F7-E5BC-485C-8D92-28FA4C3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A88FA-2AA8-4283-9DF7-5FA3BD9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Review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1D09A-787E-4E68-AF60-AF85F82C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Problem, requirements and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F94E0-B485-4F0E-9B73-78BA9AB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D2C7-B5D8-4D52-B921-0EBAE3C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74BE9-B200-4D40-83B4-E710A12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Review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9DBD2-ED96-4FEF-BF27-9C30BD7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Implementation, CRUD and NoSQL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94B11-925D-4E6C-916D-8856BA26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10 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2A195-9185-42E8-8B20-FF79F20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FF845-0D61-4BE8-80BC-6B48180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Review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E5C09-F79E-4872-8B9D-3BCE637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52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1C"/>
                </a:solidFill>
                <a:latin typeface="Arial"/>
                <a:ea typeface="Arial"/>
                <a:cs typeface="Arial"/>
              </a:rPr>
              <a:t>Application, analytics, UI and documentation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440E5-B0D6-4D41-BC1D-708D3D6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D8B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8B2D"/>
                </a:solidFill>
                <a:latin typeface="Arial"/>
                <a:ea typeface="Arial"/>
                <a:cs typeface="Arial"/>
              </a:rPr>
              <a:t>10 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10752-8AA7-43BF-A5B5-60D7216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A134B-6115-4844-B111-C9D307E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4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4F3B"/>
                </a:solidFill>
                <a:latin typeface="Arial"/>
                <a:ea typeface="Arial"/>
                <a:cs typeface="Arial"/>
              </a:rPr>
              <a:t>Complete source code, reports, user manual, presentation and demo guide are included.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0DFD9-495E-41E6-90F6-DBCEC85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8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676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2026-09-25T12:24:45.1130000Z</dcterms:created>
  <dcterms:modified xsi:type="dcterms:W3CDTF">2026-09-25T12:24:45.1130000Z</dcterms:modified>
</coreProperties>
</file>